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หน้าตาโปรดักต์" id="{50e2cc81-65d9-51b9-70c3-7bf607987adf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FUNCTION" id="{dd102f9e-8cbc-831d-22c2-61d9e1ef78bd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PECIFICATION" id="{38d905e8-3dad-bbca-bdb9-57e67fb67b4d}">
          <p14:sldIdLst>
            <p14:sldId id="270"/>
            <p14:sldId id="271"/>
            <p14:sldId id="272"/>
            <p14:sldId id="273"/>
            <p14:sldId id="274"/>
          </p14:sldIdLst>
        </p14:section>
        <p14:section name="Default-1" id="{4ebef376-5a57-63a3-ff76-787ffd1d7825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550"/>
                </a:solidFill>
                <a:latin typeface="+mn-lt"/>
              </a:rPr>
              <a:t>ตัวอย่าง: อุณหภูมิในกล่องระหว่างเปิดฝานาน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อุณหภูมิ</c:v>
                </c:pt>
              </c:strCache>
            </c:strRef>
          </c:tx>
          <c:spPr>
            <a:solidFill>
              <a:srgbClr val="0E8391"/>
            </a:solidFill>
            <a:ln w="38100" cap="flat">
              <a:solidFill>
                <a:srgbClr val="0E839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391"/>
              </a:solidFill>
              <a:ln w="9525" cap="flat">
                <a:solidFill>
                  <a:srgbClr val="0E839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10:15</c:v>
                  </c:pt>
                  <c:pt idx="1">
                    <c:v/>
                  </c:pt>
                  <c:pt idx="2">
                    <c:v/>
                  </c:pt>
                  <c:pt idx="3">
                    <c:v>10:30</c:v>
                  </c:pt>
                  <c:pt idx="4">
                    <c:v/>
                  </c:pt>
                  <c:pt idx="5">
                    <c:v/>
                  </c:pt>
                  <c:pt idx="6">
                    <c:v>10:45</c:v>
                  </c:pt>
                  <c:pt idx="7">
                    <c:v/>
                  </c:pt>
                  <c:pt idx="8">
                    <c:v/>
                  </c:pt>
                  <c:pt idx="9">
                    <c:v>11:00</c:v>
                  </c:pt>
                  <c:pt idx="10">
                    <c:v/>
                  </c:pt>
                  <c:pt idx="11">
                    <c:v/>
                  </c:pt>
                  <c:pt idx="12">
                    <c:v>11:15</c:v>
                  </c:pt>
                  <c:pt idx="13">
                    <c:v/>
                  </c:pt>
                  <c:pt idx="14">
                    <c:v/>
                  </c:pt>
                  <c:pt idx="15">
                    <c:v>11:30</c:v>
                  </c:pt>
                  <c:pt idx="16">
                    <c:v/>
                  </c:pt>
                  <c:pt idx="17">
                    <c:v/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</c:v>
                </c:pt>
                <c:pt idx="1">
                  <c:v>5.2</c:v>
                </c:pt>
                <c:pt idx="2">
                  <c:v>5.6</c:v>
                </c:pt>
                <c:pt idx="3">
                  <c:v>6.3</c:v>
                </c:pt>
                <c:pt idx="4">
                  <c:v>7.2</c:v>
                </c:pt>
                <c:pt idx="5">
                  <c:v>8.1</c:v>
                </c:pt>
                <c:pt idx="6">
                  <c:v>8.6</c:v>
                </c:pt>
                <c:pt idx="7">
                  <c:v>9.1</c:v>
                </c:pt>
                <c:pt idx="8">
                  <c:v>9.4</c:v>
                </c:pt>
                <c:pt idx="9">
                  <c:v>9.2</c:v>
                </c:pt>
                <c:pt idx="10">
                  <c:v>8.6</c:v>
                </c:pt>
                <c:pt idx="11">
                  <c:v>8</c:v>
                </c:pt>
                <c:pt idx="12">
                  <c:v>7.6</c:v>
                </c:pt>
                <c:pt idx="13">
                  <c:v>7.2</c:v>
                </c:pt>
                <c:pt idx="14">
                  <c:v>6.6</c:v>
                </c:pt>
                <c:pt idx="15">
                  <c:v>6</c:v>
                </c:pt>
                <c:pt idx="16">
                  <c:v>5.5</c:v>
                </c:pt>
                <c:pt idx="17">
                  <c:v>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ขอบบน 8 °C</c:v>
                </c:pt>
              </c:strCache>
            </c:strRef>
          </c:tx>
          <c:spPr>
            <a:solidFill>
              <a:srgbClr val="C63737"/>
            </a:solidFill>
            <a:ln w="19050" cap="flat">
              <a:solidFill>
                <a:srgbClr val="C63737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A9D6"/>
              </a:solidFill>
              <a:ln w="9525" cap="flat">
                <a:solidFill>
                  <a:srgbClr val="C637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10:15</c:v>
                  </c:pt>
                  <c:pt idx="1">
                    <c:v/>
                  </c:pt>
                  <c:pt idx="2">
                    <c:v/>
                  </c:pt>
                  <c:pt idx="3">
                    <c:v>10:30</c:v>
                  </c:pt>
                  <c:pt idx="4">
                    <c:v/>
                  </c:pt>
                  <c:pt idx="5">
                    <c:v/>
                  </c:pt>
                  <c:pt idx="6">
                    <c:v>10:45</c:v>
                  </c:pt>
                  <c:pt idx="7">
                    <c:v/>
                  </c:pt>
                  <c:pt idx="8">
                    <c:v/>
                  </c:pt>
                  <c:pt idx="9">
                    <c:v>11:00</c:v>
                  </c:pt>
                  <c:pt idx="10">
                    <c:v/>
                  </c:pt>
                  <c:pt idx="11">
                    <c:v/>
                  </c:pt>
                  <c:pt idx="12">
                    <c:v>11:15</c:v>
                  </c:pt>
                  <c:pt idx="13">
                    <c:v/>
                  </c:pt>
                  <c:pt idx="14">
                    <c:v/>
                  </c:pt>
                  <c:pt idx="15">
                    <c:v>11:30</c:v>
                  </c:pt>
                  <c:pt idx="16">
                    <c:v/>
                  </c:pt>
                  <c:pt idx="17">
                    <c:v/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ขอบล่าง 2 °C</c:v>
                </c:pt>
              </c:strCache>
            </c:strRef>
          </c:tx>
          <c:spPr>
            <a:solidFill>
              <a:srgbClr val="22A9D6"/>
            </a:solidFill>
            <a:ln w="19050" cap="flat">
              <a:solidFill>
                <a:srgbClr val="22A9D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A9D6"/>
              </a:solidFill>
              <a:ln w="9525" cap="flat">
                <a:solidFill>
                  <a:srgbClr val="22A9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10:15</c:v>
                  </c:pt>
                  <c:pt idx="1">
                    <c:v/>
                  </c:pt>
                  <c:pt idx="2">
                    <c:v/>
                  </c:pt>
                  <c:pt idx="3">
                    <c:v>10:30</c:v>
                  </c:pt>
                  <c:pt idx="4">
                    <c:v/>
                  </c:pt>
                  <c:pt idx="5">
                    <c:v/>
                  </c:pt>
                  <c:pt idx="6">
                    <c:v>10:45</c:v>
                  </c:pt>
                  <c:pt idx="7">
                    <c:v/>
                  </c:pt>
                  <c:pt idx="8">
                    <c:v/>
                  </c:pt>
                  <c:pt idx="9">
                    <c:v>11:00</c:v>
                  </c:pt>
                  <c:pt idx="10">
                    <c:v/>
                  </c:pt>
                  <c:pt idx="11">
                    <c:v/>
                  </c:pt>
                  <c:pt idx="12">
                    <c:v>11:15</c:v>
                  </c:pt>
                  <c:pt idx="13">
                    <c:v/>
                  </c:pt>
                  <c:pt idx="14">
                    <c:v/>
                  </c:pt>
                  <c:pt idx="15">
                    <c:v>11:30</c:v>
                  </c:pt>
                  <c:pt idx="16">
                    <c:v/>
                  </c:pt>
                  <c:pt idx="17">
                    <c:v/>
                  </c:pt>
                </c:lvl>
              </c:multiLvlStrCache>
            </c:multiLvl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0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07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07C"/>
                    </a:solidFill>
                    <a:latin typeface="Arial"/>
                  </a:rPr>
                  <a:t>°C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0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707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TCOLD คืออุปกรณ์ติดกล่องโฟมขนส่งยาและเวชภัณฑ์ วัดอุณหภูมิด้วยหัววัด Thermocouple บันทึกทุก 5 นาที และแจ้งเตือนเมื่ออุณหภูมิออกนอกช่วงที่กำหนดของแต่ละทริป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ภาพรวมของสินค้า: ตัวเครื่องติดกับกล่อง หัววัดอยู่ในกล่อง ผู้ใช้ไม่ต้องทำอะไรระหว่างขนส่ง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ด้านหน้ามีโลโก้ซึ่งเป็นตำแหน่งเสา NFC จอ e-Paper และไฟสถานะ 3 ดวง สีของไฟแต่ละตำแหน่งคงที่ แดงซ้ายคือสินค้า เหลืองขวาคือตัวเครื่อง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หัววัดอ่านได้ตั้งแต่ 0 °C ขึ้นไป จึงเหมาะกับยาและเวชภัณฑ์ช่วง 2–8 °C ความละเอียด 0.25 °C ไม่ใช่ความแม่นยำ ความแม่นยำขึ้นกับผลสอบเทียบ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ส่วนประกอบเรียงจากหน้าไปหลัง (ซ้ายไปขวาในภาพ) ภาพแยกชิ้นแต่ละชิ้นอยู่ในโฟลเดอร์ objects ชื่อ part_1 ถึง part_8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หน้าจอในภาพเป็นภาพแนวคิดของแอป ตัวเลขตรงกับหน้าจอบนเครื่อง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ฟังก์ชันทั้งหมดอยู่ในแผนพัฒนา firmware ของเครื่องต้นแบบ ใช้งานต่อเนื่อง 7 วันเป็นค่าเป้าหมาย ยังไม่ได้วัดจริง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ขั้นตอนตั้งแต่คลังต้นทางถึงกลับคลัง ผู้ใช้ทำแค่ 2 จุด คือแตะตอนเริ่มและตอนจบ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ไม่ต้องจับคู่ Bluetooth หรือใส่รหัส การแตะ NFC ใช้ยืนยันสิทธิ์ เครื่องไม่ให้เริ่มทริปถ้าแบตต่ำหรือมีทริปอื่นทำงานอยู่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เวลาที่ต้องอยู่นอกช่วงก่อนเตือน (ค่าเริ่มต้น 5 นาที) และระยะกลับเข้าช่วง (0.5 °C) ตั้งได้ในแอป การรับทราบในแอปหยุดเสียง แต่ประวัติ alarm ไม่หาย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สีแดงและเหลืองคือการเตือนเสมอ และอยู่ตำแหน่งเดิมทุกครั้ง น้ำเงิน ม่วง ฟ้า คือสถานะปกติ ไฟติดเป็นจังหวะสั้นเพื่อประหยัดแบต ไม่ได้ติดค้าง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ข้อมูลทุกแถวบันทึกลงหน่วยความจำก่อน แล้วจึงส่ง ถ้า server ไม่ยืนยัน เครื่องจะเก็บไว้และส่งซ้ำ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วันเป็นค่าเป้าหมายจากแบต 1500 mAh ยังไม่ได้วัดบนเครื่องต้นแบบ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ขนาดวัดจากแบบ 3D ของเคส (ไฟล์ STEP)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ตัวเลขทั้งหมดมาจากเอกสาร requirement คู่มือผู้ใช้ และเอกสารค่าตั้งค่าของแอปใน repo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แบตต่ำกว่า 10% เครื่องไม่ให้เริ่มทริปใหม่ ต่ำกว่า 5% จอขึ้น BATTERY EMPTY แล้วปิดเครื่องเองเพื่อถนอมแบต ข้อมูลไม่หาย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58521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4612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FE3E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3E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user/mCOLD/mockup/out/objects/TCOLD_logo_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375" y="6080760"/>
            <a:ext cx="2011680" cy="3529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/home/user/mCOLD/mockup/out/objects/TCOLD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55080"/>
            <a:ext cx="1188720" cy="2085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58521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THANES · SMART COLD CHAIN</a:t>
            </a:r>
            <a:endParaRPr lang="en-US" sz="1400" dirty="0"/>
          </a:p>
        </p:txBody>
      </p:sp>
      <p:pic>
        <p:nvPicPr>
          <p:cNvPr id="3" name="Image 0" descr="TCOLD — Thanes Cold-chain Online Logging De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120640" cy="118624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32461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อุปกรณ์ติดตามอุณหภูมิกล่องขนส่งยาและเวชภัณฑ์</a:t>
            </a:r>
            <a:endParaRPr lang="en-US" sz="3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343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</a:rPr>
              <a:t>บันทึกทุก 5 นาที แจ้งเตือนเมื่อออกนอกช่วง ส่งข้อมูลขึ้นระบบอัตโนมัติ ตลอดเส้นทางขนส่ง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29400" y="685800"/>
            <a:ext cx="5029200" cy="5486400"/>
          </a:xfrm>
          <a:prstGeom prst="roundRect">
            <a:avLst>
              <a:gd name="adj" fmla="val 5455"/>
            </a:avLst>
          </a:prstGeom>
          <a:solidFill>
            <a:srgbClr val="F2F8FA"/>
          </a:solidFill>
          <a:ln/>
        </p:spPr>
      </p:sp>
      <p:pic>
        <p:nvPicPr>
          <p:cNvPr id="7" name="device_with_probe" descr="device_with_pr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88051"/>
            <a:ext cx="4663440" cy="3881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หน้าตาโปรดักต์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A"/>
                </a:solidFill>
              </a:rPr>
              <a:t>ตัวเครื่อง หัววัด ส่วนประกอบภายใน และแอป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·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TCOLD ติดไปกับกล่อง ดูแลอุณหภูมิตลอดทริป</a:t>
            </a:r>
            <a:endParaRPr lang="en-US" sz="3200" dirty="0"/>
          </a:p>
        </p:txBody>
      </p:sp>
      <p:pic>
        <p:nvPicPr>
          <p:cNvPr id="4" name="device_with_probe" descr="device_with_pr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510" y="1417320"/>
            <a:ext cx="5712181" cy="4754880"/>
          </a:xfrm>
          <a:prstGeom prst="rect">
            <a:avLst/>
          </a:prstGeom>
        </p:spPr>
      </p:pic>
      <p:sp>
        <p:nvSpPr>
          <p:cNvPr id="5" name="icon temperature"/>
          <p:cNvSpPr/>
          <p:nvPr/>
        </p:nvSpPr>
        <p:spPr>
          <a:xfrm>
            <a:off x="7223760" y="178308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1" descr="temper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14" y="1895734"/>
            <a:ext cx="286756" cy="2867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64424" y="1764792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วัดและบันทึกทุก 5 นาที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500" dirty="0">
                <a:solidFill>
                  <a:schemeClr val="accent6"/>
                </a:solidFill>
              </a:rPr>
              <a:t>หัววัด Thermocouple Type K วางในกล่อง ตัวเครื่องติดด้านนอก อ่านค่าได้จากจอทันที</a:t>
            </a:r>
            <a:endParaRPr lang="th-TH" sz="1400" dirty="0"/>
          </a:p>
        </p:txBody>
      </p:sp>
      <p:sp>
        <p:nvSpPr>
          <p:cNvPr id="8" name="icon bell-ringing"/>
          <p:cNvSpPr/>
          <p:nvPr/>
        </p:nvSpPr>
        <p:spPr>
          <a:xfrm>
            <a:off x="7223760" y="30632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2" descr="bell-ring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414" y="3175894"/>
            <a:ext cx="286756" cy="2867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964424" y="3044952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เตือนทันทีเมื่อออกนอกช่วง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500" dirty="0">
                <a:solidFill>
                  <a:schemeClr val="accent6"/>
                </a:solidFill>
              </a:rPr>
              <a:t>เสียง ไฟ และจอเปลี่ยนเป็นสีแดง พร้อมส่งแจ้งเตือนขึ้นระบบ</a:t>
            </a:r>
            <a:endParaRPr lang="th-TH" sz="1400" dirty="0"/>
          </a:p>
        </p:txBody>
      </p:sp>
      <p:sp>
        <p:nvSpPr>
          <p:cNvPr id="11" name="icon shield-check"/>
          <p:cNvSpPr/>
          <p:nvPr/>
        </p:nvSpPr>
        <p:spPr>
          <a:xfrm>
            <a:off x="7223760" y="434340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shield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414" y="4456054"/>
            <a:ext cx="286756" cy="2867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964424" y="4325112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หลักฐานครบทั้งทริป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500" dirty="0">
                <a:solidFill>
                  <a:schemeClr val="accent6"/>
                </a:solidFill>
              </a:rPr>
              <a:t>เก็บอุณหภูมิ ตำแหน่ง การเปิดฝา และการกระแทก ไม่หายแม้ไม่มีสัญญาณ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·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รอบตัวเครื่อง</a:t>
            </a:r>
            <a:endParaRPr lang="en-US" sz="3200" dirty="0"/>
          </a:p>
        </p:txBody>
      </p:sp>
      <p:pic>
        <p:nvPicPr>
          <p:cNvPr id="4" name="device_front" descr="device_fr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062" y="1371600"/>
            <a:ext cx="4883396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1600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จุดแตะ NFC</a:t>
            </a:r>
            <a:endParaRPr lang="th-TH" sz="1400" dirty="0"/>
          </a:p>
          <a:p>
            <a:pPr algn="r"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อยู่บริเวณโลโก้ แตะมือถือเพื่อเชื่อมต่อแอป</a:t>
            </a:r>
            <a:endParaRPr lang="th-TH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3154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จอ e-Paper 2.13″</a:t>
            </a:r>
            <a:endParaRPr lang="th-TH" sz="1400" dirty="0"/>
          </a:p>
          <a:p>
            <a:pPr algn="r"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อุณหภูมิล่าสุด MIN/MAX และสถานะ ภาพค้างได้โดยไม่ใช้ไฟ</a:t>
            </a:r>
            <a:endParaRPr lang="th-TH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617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ไฟสถานะ 3 ดวง</a:t>
            </a:r>
            <a:endParaRPr lang="th-TH" sz="1400" dirty="0"/>
          </a:p>
          <a:p>
            <a:pPr algn="r"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ซ้าย สินค้า · กลาง ทริป · ขวา ตัวเครื่อง</a:t>
            </a:r>
            <a:endParaRPr lang="th-TH" sz="1400" dirty="0"/>
          </a:p>
        </p:txBody>
      </p:sp>
      <p:pic>
        <p:nvPicPr>
          <p:cNvPr id="8" name="device_back" descr="device_b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574" y="1417320"/>
            <a:ext cx="2110531" cy="23774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7824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ด้านหลัง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ฝาหลังสีเทอร์ควอยซ์ ติดกับฝากล่องโฟม</a:t>
            </a:r>
            <a:endParaRPr lang="th-TH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4892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200" b="1" dirty="0">
                <a:solidFill>
                  <a:schemeClr val="accent1"/>
                </a:solidFill>
              </a:rPr>
              <a:t>87 × 87 × 12.3 มม.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ขนาดตัวเครื่อง วัดจากแบบ 3D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·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หัววัด Thermocouple Type 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274320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pic>
        <p:nvPicPr>
          <p:cNvPr id="5" name="thermocouple" descr="thermocou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87" y="1645920"/>
            <a:ext cx="9361521" cy="2468880"/>
          </a:xfrm>
          <a:prstGeom prst="rect">
            <a:avLst/>
          </a:prstGeom>
        </p:spPr>
      </p:pic>
      <p:sp>
        <p:nvSpPr>
          <p:cNvPr id="6" name="icon temperature"/>
          <p:cNvSpPr/>
          <p:nvPr/>
        </p:nvSpPr>
        <p:spPr>
          <a:xfrm>
            <a:off x="548640" y="46634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temper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" y="4776094"/>
            <a:ext cx="286756" cy="2867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9304" y="4645152"/>
            <a:ext cx="182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ปลอกสแตนเลส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สอดเข้ากล่องโฟม วัดอุณหภูมิของสินค้าโดยตรง</a:t>
            </a:r>
            <a:endParaRPr lang="th-TH" sz="1400" dirty="0"/>
          </a:p>
        </p:txBody>
      </p:sp>
      <p:sp>
        <p:nvSpPr>
          <p:cNvPr id="9" name="icon activity"/>
          <p:cNvSpPr/>
          <p:nvPr/>
        </p:nvSpPr>
        <p:spPr>
          <a:xfrm>
            <a:off x="3390824" y="46634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activ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478" y="4776094"/>
            <a:ext cx="286756" cy="2867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31488" y="4645152"/>
            <a:ext cx="182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สายถักโลหะ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ทนการพับและเสียดสีระหว่างขนย้าย</a:t>
            </a:r>
            <a:endParaRPr lang="th-TH" sz="1400" dirty="0"/>
          </a:p>
        </p:txBody>
      </p:sp>
      <p:sp>
        <p:nvSpPr>
          <p:cNvPr id="12" name="icon chart-line"/>
          <p:cNvSpPr/>
          <p:nvPr/>
        </p:nvSpPr>
        <p:spPr>
          <a:xfrm>
            <a:off x="6233008" y="46634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chart-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662" y="4776094"/>
            <a:ext cx="286756" cy="2867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73672" y="4645152"/>
            <a:ext cx="182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ความละเอียด 0.25 °C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แปลงสัญญาณด้วย MAX6675 เหมาะกับช่วง 2–8 °C</a:t>
            </a:r>
            <a:endParaRPr lang="th-TH" sz="1400" dirty="0"/>
          </a:p>
        </p:txBody>
      </p:sp>
      <p:sp>
        <p:nvSpPr>
          <p:cNvPr id="15" name="icon alert-triangle"/>
          <p:cNvSpPr/>
          <p:nvPr/>
        </p:nvSpPr>
        <p:spPr>
          <a:xfrm>
            <a:off x="9075191" y="46634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4" descr="alert-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845" y="4776094"/>
            <a:ext cx="286756" cy="2867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815855" y="4645152"/>
            <a:ext cx="182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รู้ทันทีถ้าหลุด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จอแสดง -- สีแดง ไฟขวาเหลือง ไม่แสดงค่าผิดเป็น 0 °C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·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ภายในเครื่อง</a:t>
            </a:r>
            <a:endParaRPr lang="en-US" sz="3200" dirty="0"/>
          </a:p>
        </p:txBody>
      </p:sp>
      <p:pic>
        <p:nvPicPr>
          <p:cNvPr id="4" name="explode_stack" descr="explode_st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1510" y="1325880"/>
            <a:ext cx="6508676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1</a:t>
            </a:r>
            <a:endParaRPr lang="th-TH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4709160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เคสหน้า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ช่องจอ + รูไฟ</a:t>
            </a:r>
            <a:endParaRPr lang="th-TH" sz="1400" dirty="0"/>
          </a:p>
        </p:txBody>
      </p:sp>
      <p:sp>
        <p:nvSpPr>
          <p:cNvPr id="8" name="Shape 5"/>
          <p:cNvSpPr/>
          <p:nvPr/>
        </p:nvSpPr>
        <p:spPr>
          <a:xfrm>
            <a:off x="3482264" y="472744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82264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2</a:t>
            </a:r>
            <a:endParaRPr lang="th-TH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985184" y="4709160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ท่อนำแสง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ไฟ RGB 3 ดวง</a:t>
            </a:r>
            <a:endParaRPr lang="th-TH" sz="1400" dirty="0"/>
          </a:p>
        </p:txBody>
      </p:sp>
      <p:sp>
        <p:nvSpPr>
          <p:cNvPr id="11" name="Shape 8"/>
          <p:cNvSpPr/>
          <p:nvPr/>
        </p:nvSpPr>
        <p:spPr>
          <a:xfrm>
            <a:off x="6415888" y="472744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15888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3</a:t>
            </a:r>
            <a:endParaRPr lang="th-TH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18808" y="4709160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จอ e-Paper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2.13″ 250×122</a:t>
            </a:r>
            <a:endParaRPr lang="th-TH" sz="1400" dirty="0"/>
          </a:p>
        </p:txBody>
      </p:sp>
      <p:sp>
        <p:nvSpPr>
          <p:cNvPr id="14" name="Shape 11"/>
          <p:cNvSpPr/>
          <p:nvPr/>
        </p:nvSpPr>
        <p:spPr>
          <a:xfrm>
            <a:off x="9349511" y="472744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49511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4</a:t>
            </a:r>
            <a:endParaRPr lang="th-TH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852431" y="4709160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บอร์ด NFC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ST25DV04KC</a:t>
            </a:r>
            <a:endParaRPr lang="th-TH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4772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5</a:t>
            </a:r>
            <a:endParaRPr lang="th-TH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5458968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แผ่นรองจอ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ยึดจอและ NFC</a:t>
            </a:r>
            <a:endParaRPr lang="th-TH" sz="1400" dirty="0"/>
          </a:p>
        </p:txBody>
      </p:sp>
      <p:sp>
        <p:nvSpPr>
          <p:cNvPr id="20" name="Shape 17"/>
          <p:cNvSpPr/>
          <p:nvPr/>
        </p:nvSpPr>
        <p:spPr>
          <a:xfrm>
            <a:off x="3482264" y="54772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82264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6</a:t>
            </a:r>
            <a:endParaRPr lang="th-TH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985184" y="5458968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บอร์ดหลัก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ESP32-S3 · GNSS</a:t>
            </a:r>
            <a:endParaRPr lang="th-TH" sz="1400" dirty="0"/>
          </a:p>
        </p:txBody>
      </p:sp>
      <p:sp>
        <p:nvSpPr>
          <p:cNvPr id="23" name="Shape 20"/>
          <p:cNvSpPr/>
          <p:nvPr/>
        </p:nvSpPr>
        <p:spPr>
          <a:xfrm>
            <a:off x="6415888" y="54772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15888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7</a:t>
            </a:r>
            <a:endParaRPr lang="th-TH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18808" y="5458968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แบตเตอรี่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Li-Po 59×37×5</a:t>
            </a:r>
            <a:endParaRPr lang="th-TH" sz="1400" dirty="0"/>
          </a:p>
        </p:txBody>
      </p:sp>
      <p:sp>
        <p:nvSpPr>
          <p:cNvPr id="26" name="Shape 23"/>
          <p:cNvSpPr/>
          <p:nvPr/>
        </p:nvSpPr>
        <p:spPr>
          <a:xfrm>
            <a:off x="9349511" y="54772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349511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bg1"/>
                </a:solidFill>
              </a:rPr>
              <a:t>8</a:t>
            </a:r>
            <a:endParaRPr lang="th-TH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852431" y="5458968"/>
            <a:ext cx="1790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เคสหลัง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หนารวม 12.3 มม.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·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แอป TCOLD</a:t>
            </a:r>
            <a:endParaRPr lang="en-US" sz="3200" dirty="0"/>
          </a:p>
        </p:txBody>
      </p:sp>
      <p:pic>
        <p:nvPicPr>
          <p:cNvPr id="4" name="phone_app_tilted" descr="phone_app_til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308" y="1188720"/>
            <a:ext cx="2903783" cy="5074920"/>
          </a:xfrm>
          <a:prstGeom prst="rect">
            <a:avLst/>
          </a:prstGeom>
        </p:spPr>
      </p:pic>
      <p:sp>
        <p:nvSpPr>
          <p:cNvPr id="5" name="icon nfc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1" descr="nf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0934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49047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แตะเพื่อเชื่อมต่อ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แตะมือถือที่เครื่อง แอปเชื่อมต่อผ่าน Bluetooth เอง ไม่ต้องค้นหาเครื่อง</a:t>
            </a:r>
            <a:endParaRPr lang="th-TH" sz="1400" dirty="0"/>
          </a:p>
        </p:txBody>
      </p:sp>
      <p:sp>
        <p:nvSpPr>
          <p:cNvPr id="8" name="icon chart-line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2" descr="chart-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5237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240487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ดูอุณหภูมิสดและกราฟทั้งทริป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ค่าล่าสุด ต่ำสุด/สูงสุด จำนวน alarm แบต และพื้นที่เก็บข้อมูล</a:t>
            </a:r>
            <a:endParaRPr lang="th-TH" sz="1400" dirty="0"/>
          </a:p>
        </p:txBody>
      </p:sp>
      <p:sp>
        <p:nvSpPr>
          <p:cNvPr id="11" name="icon player-play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player-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4381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331927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เริ่ม / หยุดทริป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กรอกข้อมูลงานและช่วงอุณหภูมิ เช่น 2–8 °C แล้วกดเริ่ม</a:t>
            </a:r>
            <a:endParaRPr lang="th-TH" sz="1400" dirty="0"/>
          </a:p>
        </p:txBody>
      </p:sp>
      <p:sp>
        <p:nvSpPr>
          <p:cNvPr id="14" name="icon bell-ringing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4" descr="bell-ring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35254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423367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รับทราบ alarm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หยุดเสียงเตือนที่กล่อง ประวัติการแจ้งเตือนยังอยู่ครบ</a:t>
            </a:r>
            <a:endParaRPr lang="th-TH" sz="1400" dirty="0"/>
          </a:p>
        </p:txBody>
      </p:sp>
      <p:sp>
        <p:nvSpPr>
          <p:cNvPr id="17" name="icon file-spreadsheet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5" descr="file-spreadshe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266944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34440" y="514807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ส่งออก CSV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เปิดใน Excel ได้ทันที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FUNCTION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A"/>
                </a:solidFill>
              </a:rPr>
              <a:t>เครื่องทำอะไรได้ และใช้งานอย่างไรตั้งแต่ต้นทางถึงปลายทาง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FUNCTION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ฟังก์ชันหลัก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5" name="icon temperature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emper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585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ติดตามอุณหภูมิ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Type K ทุก 5 นาที (ปรับได้)</a:t>
            </a:r>
            <a:endParaRPr lang="th-TH" sz="1400" dirty="0"/>
          </a:p>
        </p:txBody>
      </p:sp>
      <p:sp>
        <p:nvSpPr>
          <p:cNvPr id="8" name="Shape 5"/>
          <p:cNvSpPr/>
          <p:nvPr/>
        </p:nvSpPr>
        <p:spPr>
          <a:xfrm>
            <a:off x="3390824" y="15087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9" name="icon bell-ringing"/>
          <p:cNvSpPr/>
          <p:nvPr/>
        </p:nvSpPr>
        <p:spPr>
          <a:xfrm>
            <a:off x="3619424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bell-ring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008" y="18379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2585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แจ้งเตือนหลายช่องทาง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เสียง ไฟ จอ และขึ้นระบบ</a:t>
            </a:r>
            <a:endParaRPr lang="th-TH" sz="1400" dirty="0"/>
          </a:p>
        </p:txBody>
      </p:sp>
      <p:sp>
        <p:nvSpPr>
          <p:cNvPr id="12" name="Shape 8"/>
          <p:cNvSpPr/>
          <p:nvPr/>
        </p:nvSpPr>
        <p:spPr>
          <a:xfrm>
            <a:off x="6233008" y="15087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3" name="icon door"/>
          <p:cNvSpPr/>
          <p:nvPr/>
        </p:nvSpPr>
        <p:spPr>
          <a:xfrm>
            <a:off x="6461608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do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18379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2585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ตรวจจับการเปิดฝา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บันทึกเวลาเปิด-ปิดทุกครั้ง</a:t>
            </a:r>
            <a:endParaRPr lang="th-TH" sz="1400" dirty="0"/>
          </a:p>
        </p:txBody>
      </p:sp>
      <p:sp>
        <p:nvSpPr>
          <p:cNvPr id="16" name="Shape 11"/>
          <p:cNvSpPr/>
          <p:nvPr/>
        </p:nvSpPr>
        <p:spPr>
          <a:xfrm>
            <a:off x="9075191" y="15087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17" name="icon activity"/>
          <p:cNvSpPr/>
          <p:nvPr/>
        </p:nvSpPr>
        <p:spPr>
          <a:xfrm>
            <a:off x="9303791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375" y="183794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2585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ตรวจจับการกระแทก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เซ็นเซอร์ความเร่ง 3 แกน</a:t>
            </a:r>
            <a:endParaRPr lang="th-TH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31089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21" name="icon map-pin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map-p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43814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77240" y="38587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ระบุตำแหน่ง GNSS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บันทึกพิกัดระหว่างขนส่ง</a:t>
            </a:r>
            <a:endParaRPr lang="th-TH" sz="1400" dirty="0"/>
          </a:p>
        </p:txBody>
      </p:sp>
      <p:sp>
        <p:nvSpPr>
          <p:cNvPr id="24" name="Shape 17"/>
          <p:cNvSpPr/>
          <p:nvPr/>
        </p:nvSpPr>
        <p:spPr>
          <a:xfrm>
            <a:off x="3390824" y="31089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25" name="icon eye"/>
          <p:cNvSpPr/>
          <p:nvPr/>
        </p:nvSpPr>
        <p:spPr>
          <a:xfrm>
            <a:off x="3619424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ey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0008" y="343814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619424" y="38587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จอ e-Paper 2.13″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ภาพค้างได้โดยไม่ใช้ไฟ</a:t>
            </a:r>
            <a:endParaRPr lang="th-TH" sz="1400" dirty="0"/>
          </a:p>
        </p:txBody>
      </p:sp>
      <p:sp>
        <p:nvSpPr>
          <p:cNvPr id="28" name="Shape 20"/>
          <p:cNvSpPr/>
          <p:nvPr/>
        </p:nvSpPr>
        <p:spPr>
          <a:xfrm>
            <a:off x="6233008" y="31089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29" name="icon nfc"/>
          <p:cNvSpPr/>
          <p:nvPr/>
        </p:nvSpPr>
        <p:spPr>
          <a:xfrm>
            <a:off x="6461608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6" descr="nf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192" y="3438144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461608" y="38587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แตะเพื่อเริ่มงาน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NFC + แอปบนมือถือ</a:t>
            </a:r>
            <a:endParaRPr lang="th-TH" sz="1400" dirty="0"/>
          </a:p>
        </p:txBody>
      </p:sp>
      <p:sp>
        <p:nvSpPr>
          <p:cNvPr id="32" name="Shape 23"/>
          <p:cNvSpPr/>
          <p:nvPr/>
        </p:nvSpPr>
        <p:spPr>
          <a:xfrm>
            <a:off x="9075191" y="31089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33" name="icon cloud-upload"/>
          <p:cNvSpPr/>
          <p:nvPr/>
        </p:nvSpPr>
        <p:spPr>
          <a:xfrm>
            <a:off x="9303791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7" descr="cloud-uploa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4375" y="3438144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303791" y="38587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ส่งข้อมูลอัตโนมัติ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Wi-Fi 2.4 GHz · MQTT</a:t>
            </a:r>
            <a:endParaRPr lang="th-TH" sz="1400" dirty="0"/>
          </a:p>
        </p:txBody>
      </p:sp>
      <p:sp>
        <p:nvSpPr>
          <p:cNvPr id="36" name="Shape 26"/>
          <p:cNvSpPr/>
          <p:nvPr/>
        </p:nvSpPr>
        <p:spPr>
          <a:xfrm>
            <a:off x="548640" y="47091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37" name="icon database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8" descr="databas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5038344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77240" y="54589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เก็บเมื่อไม่มีสัญญาณ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ประมาณ 268 วันในเครื่อง</a:t>
            </a:r>
            <a:endParaRPr lang="th-TH" sz="1400" dirty="0"/>
          </a:p>
        </p:txBody>
      </p:sp>
      <p:sp>
        <p:nvSpPr>
          <p:cNvPr id="40" name="Shape 29"/>
          <p:cNvSpPr/>
          <p:nvPr/>
        </p:nvSpPr>
        <p:spPr>
          <a:xfrm>
            <a:off x="3390824" y="47091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41" name="icon usb"/>
          <p:cNvSpPr/>
          <p:nvPr/>
        </p:nvSpPr>
        <p:spPr>
          <a:xfrm>
            <a:off x="3619424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Image 9" descr="usb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0008" y="5038344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619424" y="54589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ดึงไฟล์ผ่าน USB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เห็นเป็นไดรฟ์ ไฟล์ CSV</a:t>
            </a:r>
            <a:endParaRPr lang="th-TH" sz="1400" dirty="0"/>
          </a:p>
        </p:txBody>
      </p:sp>
      <p:sp>
        <p:nvSpPr>
          <p:cNvPr id="44" name="Shape 32"/>
          <p:cNvSpPr/>
          <p:nvPr/>
        </p:nvSpPr>
        <p:spPr>
          <a:xfrm>
            <a:off x="6233008" y="47091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45" name="icon battery-charging"/>
          <p:cNvSpPr/>
          <p:nvPr/>
        </p:nvSpPr>
        <p:spPr>
          <a:xfrm>
            <a:off x="6461608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mage 10" descr="battery-chargi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2192" y="5038344"/>
            <a:ext cx="256032" cy="25603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461608" y="54589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Dock ชาร์จ 6 เครื่อง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ชาร์จพร้อมกัน USB-C PD</a:t>
            </a:r>
            <a:endParaRPr lang="th-TH" sz="1400" dirty="0"/>
          </a:p>
        </p:txBody>
      </p:sp>
      <p:sp>
        <p:nvSpPr>
          <p:cNvPr id="48" name="Shape 35"/>
          <p:cNvSpPr/>
          <p:nvPr/>
        </p:nvSpPr>
        <p:spPr>
          <a:xfrm>
            <a:off x="9075191" y="4709160"/>
            <a:ext cx="2567864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/>
        </p:spPr>
      </p:sp>
      <p:sp>
        <p:nvSpPr>
          <p:cNvPr id="49" name="icon battery-3"/>
          <p:cNvSpPr/>
          <p:nvPr/>
        </p:nvSpPr>
        <p:spPr>
          <a:xfrm>
            <a:off x="9303791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0" name="Image 11" descr="battery-3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4375" y="5038344"/>
            <a:ext cx="256032" cy="25603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303791" y="5458968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ใช้งานต่อเนื่อง 7 วัน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เป้าหมายการออกแบบ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FUNCTION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ขั้นตอนการใช้งาน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73175" y="2560320"/>
            <a:ext cx="9245346" cy="0"/>
          </a:xfrm>
          <a:prstGeom prst="line">
            <a:avLst/>
          </a:prstGeom>
          <a:noFill/>
          <a:ln w="25400">
            <a:solidFill>
              <a:srgbClr val="1AA5B5"/>
            </a:solidFill>
            <a:prstDash val="dash"/>
          </a:ln>
        </p:spPr>
      </p:sp>
      <p:sp>
        <p:nvSpPr>
          <p:cNvPr id="5" name="icon battery-charging"/>
          <p:cNvSpPr/>
          <p:nvPr/>
        </p:nvSpPr>
        <p:spPr>
          <a:xfrm>
            <a:off x="1061695" y="21488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battery-charg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746" y="23298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61695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1"/>
                </a:solidFill>
              </a:rPr>
              <a:t>1</a:t>
            </a:r>
            <a:endParaRPr lang="th-TH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74720"/>
            <a:ext cx="16661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เตรียมเครื่อง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ชาร์จใน Dock เปิดสวิตช์ จอแสดง READY</a:t>
            </a:r>
            <a:endParaRPr lang="th-TH" sz="1400" dirty="0"/>
          </a:p>
        </p:txBody>
      </p:sp>
      <p:sp>
        <p:nvSpPr>
          <p:cNvPr id="9" name="icon hand-finger"/>
          <p:cNvSpPr/>
          <p:nvPr/>
        </p:nvSpPr>
        <p:spPr>
          <a:xfrm>
            <a:off x="2910764" y="21488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hand-fin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15" y="232989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10764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1"/>
                </a:solidFill>
              </a:rPr>
              <a:t>2</a:t>
            </a:r>
            <a:endParaRPr lang="th-TH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489149" y="3474720"/>
            <a:ext cx="16661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เริ่มทริป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แตะมือถือ กรอกข้อมูลงาน กดเริ่ม</a:t>
            </a:r>
            <a:endParaRPr lang="th-TH" sz="1400" dirty="0"/>
          </a:p>
        </p:txBody>
      </p:sp>
      <p:sp>
        <p:nvSpPr>
          <p:cNvPr id="13" name="icon truck-delivery"/>
          <p:cNvSpPr/>
          <p:nvPr/>
        </p:nvSpPr>
        <p:spPr>
          <a:xfrm>
            <a:off x="4759833" y="21488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truck-deliv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884" y="2329891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59833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1"/>
                </a:solidFill>
              </a:rPr>
              <a:t>3</a:t>
            </a:r>
            <a:endParaRPr lang="th-TH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338218" y="3474720"/>
            <a:ext cx="16661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ระหว่างขนส่ง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เครื่องวัด บันทึก และส่งข้อมูลเอง</a:t>
            </a:r>
            <a:endParaRPr lang="th-TH" sz="1400" dirty="0"/>
          </a:p>
        </p:txBody>
      </p:sp>
      <p:sp>
        <p:nvSpPr>
          <p:cNvPr id="17" name="icon alert-triangle"/>
          <p:cNvSpPr/>
          <p:nvPr/>
        </p:nvSpPr>
        <p:spPr>
          <a:xfrm>
            <a:off x="6608902" y="21488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alert-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953" y="2329891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08902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1"/>
                </a:solidFill>
              </a:rPr>
              <a:t>4</a:t>
            </a:r>
            <a:endParaRPr lang="th-TH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187288" y="3474720"/>
            <a:ext cx="16661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เมื่อผิดปกติ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เตือนทันที แตะมือถือเพื่อรับทราบ</a:t>
            </a:r>
            <a:endParaRPr lang="th-TH" sz="1400" dirty="0"/>
          </a:p>
        </p:txBody>
      </p:sp>
      <p:sp>
        <p:nvSpPr>
          <p:cNvPr id="21" name="icon flag"/>
          <p:cNvSpPr/>
          <p:nvPr/>
        </p:nvSpPr>
        <p:spPr>
          <a:xfrm>
            <a:off x="8457971" y="21488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fl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023" y="2329891"/>
            <a:ext cx="460858" cy="46085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57971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1"/>
                </a:solidFill>
              </a:rPr>
              <a:t>5</a:t>
            </a:r>
            <a:endParaRPr lang="th-TH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8036357" y="3474720"/>
            <a:ext cx="16661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ส่งมอบ / จบงาน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แตะมือถือ กดจบงาน จอแสดงสรุป</a:t>
            </a:r>
            <a:endParaRPr lang="th-TH" sz="1400" dirty="0"/>
          </a:p>
        </p:txBody>
      </p:sp>
      <p:sp>
        <p:nvSpPr>
          <p:cNvPr id="25" name="icon building-warehouse"/>
          <p:cNvSpPr/>
          <p:nvPr/>
        </p:nvSpPr>
        <p:spPr>
          <a:xfrm>
            <a:off x="10307041" y="21488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building-warehou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8092" y="2329891"/>
            <a:ext cx="460858" cy="46085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307041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1"/>
                </a:solidFill>
              </a:rPr>
              <a:t>6</a:t>
            </a:r>
            <a:endParaRPr lang="th-TH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885426" y="3474720"/>
            <a:ext cx="16661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กลับคลัง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ชาร์จและดึงข้อมูล CSV</a:t>
            </a:r>
            <a:endParaRPr lang="th-TH" sz="1400" dirty="0"/>
          </a:p>
        </p:txBody>
      </p:sp>
      <p:sp>
        <p:nvSpPr>
          <p:cNvPr id="29" name="Shape 21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822960" y="50749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ผู้ใช้แตะมือถือแค่ตอนเริ่มและจบงาน </a:t>
            </a:r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ระหว่างทางเครื่องทำงานเองทั้งหมด การแตะ NFC อย่างเดียวไม่เริ่มทริป ต้องกดยืนยันในแอปทุกครั้ง</a:t>
            </a:r>
            <a:endParaRPr lang="th-TH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FUNCTION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เริ่มทริปด้วยการแตะ</a:t>
            </a:r>
            <a:endParaRPr lang="en-US" sz="3200" dirty="0"/>
          </a:p>
        </p:txBody>
      </p:sp>
      <p:pic>
        <p:nvPicPr>
          <p:cNvPr id="4" name="state_A1_ready" descr="state_A1_rea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57" y="1463040"/>
            <a:ext cx="2856326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94760" y="2788920"/>
            <a:ext cx="548640" cy="457200"/>
          </a:xfrm>
          <a:prstGeom prst="rightArrow">
            <a:avLst/>
          </a:prstGeom>
          <a:solidFill>
            <a:schemeClr val="accent2"/>
          </a:solidFill>
          <a:ln/>
        </p:spPr>
      </p:sp>
      <p:pic>
        <p:nvPicPr>
          <p:cNvPr id="6" name="phone_app" descr="phone_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874" y="1325880"/>
            <a:ext cx="1893052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0" y="2788920"/>
            <a:ext cx="548640" cy="457200"/>
          </a:xfrm>
          <a:prstGeom prst="rightArrow">
            <a:avLst/>
          </a:prstGeom>
          <a:solidFill>
            <a:schemeClr val="accent2"/>
          </a:solidFill>
          <a:ln/>
        </p:spPr>
      </p:sp>
      <p:pic>
        <p:nvPicPr>
          <p:cNvPr id="8" name="state_A2_trip" descr="state_A2_tr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797" y="1463040"/>
            <a:ext cx="2856326" cy="28346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READY · พร้อมเริ่ม</a:t>
            </a:r>
            <a:endParaRPr lang="th-TH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443484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แอป</a:t>
            </a:r>
            <a:endParaRPr lang="th-TH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26948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TRIP ACTIVE · ไฟกลางฟ้า</a:t>
            </a:r>
            <a:endParaRPr lang="th-TH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52578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4864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chemeClr val="bg1"/>
                </a:solidFill>
              </a:rPr>
              <a:t>1</a:t>
            </a:r>
            <a:endParaRPr lang="th-TH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" y="52212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แตะมือถือที่จุด NFC ไฟหน้ากะพริบม่วง เครื่องเปิด Bluetooth 60 วินาที</a:t>
            </a:r>
            <a:endParaRPr lang="th-TH" sz="1300" dirty="0"/>
          </a:p>
        </p:txBody>
      </p:sp>
      <p:sp>
        <p:nvSpPr>
          <p:cNvPr id="15" name="Shape 10"/>
          <p:cNvSpPr/>
          <p:nvPr/>
        </p:nvSpPr>
        <p:spPr>
          <a:xfrm>
            <a:off x="4297680" y="52578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29768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chemeClr val="bg1"/>
                </a:solidFill>
              </a:rPr>
              <a:t>2</a:t>
            </a:r>
            <a:endParaRPr lang="th-TH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52212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แอปเชื่อมต่อเอง กรอกข้อมูลงานและช่วงอุณหภูมิ เช่น 2–8 °C</a:t>
            </a:r>
            <a:endParaRPr lang="th-TH" sz="1300" dirty="0"/>
          </a:p>
        </p:txBody>
      </p:sp>
      <p:sp>
        <p:nvSpPr>
          <p:cNvPr id="18" name="Shape 13"/>
          <p:cNvSpPr/>
          <p:nvPr/>
        </p:nvSpPr>
        <p:spPr>
          <a:xfrm>
            <a:off x="8046720" y="52578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4672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chemeClr val="bg1"/>
                </a:solidFill>
              </a:rPr>
              <a:t>3</a:t>
            </a:r>
            <a:endParaRPr lang="th-TH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52212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กดเริ่ม ไฟกลางกะพริบฟ้า 3 ครั้ง จอขึ้นไอคอนทริป</a:t>
            </a:r>
            <a:endParaRPr lang="th-TH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FUNCTION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การแจ้งเตือนอุณหภูมิ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i="1" dirty="0">
                <a:solidFill>
                  <a:schemeClr val="accent6"/>
                </a:solidFill>
              </a:rPr>
              <a:t>ข้อมูลตัวอย่างเพื่ออธิบายการทำงาน</a:t>
            </a:r>
            <a:endParaRPr lang="th-TH" sz="1000" dirty="0"/>
          </a:p>
        </p:txBody>
      </p:sp>
      <p:pic>
        <p:nvPicPr>
          <p:cNvPr id="6" name="state_A3_out_of_range" descr="state_A3_out_of_ran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67726"/>
            <a:ext cx="1234440" cy="12250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89720" y="1600200"/>
            <a:ext cx="2453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เกิน 8 °C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จอเปลี่ยนตัวเลขเป็นสีแดง ยังไม่เตือน</a:t>
            </a:r>
            <a:endParaRPr lang="th-TH" sz="1400" dirty="0"/>
          </a:p>
        </p:txBody>
      </p:sp>
      <p:pic>
        <p:nvPicPr>
          <p:cNvPr id="8" name="state_A4_alarm" descr="state_A4_ala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30766"/>
            <a:ext cx="1234440" cy="12250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89720" y="3063240"/>
            <a:ext cx="2453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accent3"/>
                </a:solidFill>
              </a:rPr>
              <a:t>นอกช่วงต่อเนื่อง 5 นาที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ALARM: บี๊บ 3 ครั้ง ไฟซ้ายกะพริบแดง จอกรอบแดง ส่งขึ้นระบบ</a:t>
            </a:r>
            <a:endParaRPr lang="th-TH" sz="1400" dirty="0"/>
          </a:p>
        </p:txBody>
      </p:sp>
      <p:sp>
        <p:nvSpPr>
          <p:cNvPr id="10" name="Shape 5"/>
          <p:cNvSpPr/>
          <p:nvPr/>
        </p:nvSpPr>
        <p:spPr>
          <a:xfrm>
            <a:off x="7909560" y="4480560"/>
            <a:ext cx="1051560" cy="10515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4736592"/>
            <a:ext cx="548640" cy="5486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189720" y="4526280"/>
            <a:ext cx="2453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กลับเข้าช่วงลึก 0.5 °C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ต่ำกว่า 7.5 °C alarm หาย ประวัติยังอยู่ครบ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FUNCTION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ไฟสถานะและหน้าจอ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5258" cy="17830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FF3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755648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ซ้าย · สินค้า</a:t>
            </a:r>
            <a:endParaRPr lang="th-TH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แดง 2 ครั้ง + บี๊บ = alarm อุณหภูมิ</a:t>
            </a:r>
            <a:endParaRPr lang="th-TH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น้ำเงิน 1 ครั้ง = รับทราบ alarm</a:t>
            </a:r>
            <a:endParaRPr lang="th-TH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17830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612538" y="1737360"/>
            <a:ext cx="384048" cy="384048"/>
          </a:xfrm>
          <a:prstGeom prst="ellipse">
            <a:avLst/>
          </a:prstGeom>
          <a:solidFill>
            <a:srgbClr val="22C8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1178" y="1755648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กลาง · ทริป</a:t>
            </a:r>
            <a:endParaRPr lang="th-TH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2860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ฟ้า 3 ครั้ง = เริ่มทริป</a:t>
            </a:r>
            <a:endParaRPr lang="th-TH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ฟ้าสั้นๆ ทุก 15 นาที = ทำงานปกติ</a:t>
            </a:r>
            <a:endParaRPr lang="th-TH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น้ำเงิน 1 ครั้ง = หยุดทริป</a:t>
            </a:r>
            <a:endParaRPr lang="th-TH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463040"/>
            <a:ext cx="3515258" cy="17830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2117" y="1737360"/>
            <a:ext cx="384048" cy="384048"/>
          </a:xfrm>
          <a:prstGeom prst="ellipse">
            <a:avLst/>
          </a:prstGeom>
          <a:solidFill>
            <a:srgbClr val="FFB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50757" y="1755648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b="1" dirty="0">
                <a:solidFill>
                  <a:schemeClr val="tx2"/>
                </a:solidFill>
              </a:rPr>
              <a:t>ขวา · ตัวเครื่อง</a:t>
            </a:r>
            <a:endParaRPr lang="th-TH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2860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เหลือง 3 ครั้ง = ต้องตรวจ</a:t>
            </a:r>
            <a:endParaRPr lang="th-TH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th-TH" altLang="en-US" sz="1300" dirty="0">
                <a:solidFill>
                  <a:schemeClr val="tx1"/>
                </a:solidFill>
              </a:rPr>
              <a:t>probe หลุด แบตต่ำ นาฬิกาไม่มีเวลา</a:t>
            </a:r>
            <a:endParaRPr lang="th-TH" sz="1300" dirty="0"/>
          </a:p>
        </p:txBody>
      </p:sp>
      <p:pic>
        <p:nvPicPr>
          <p:cNvPr id="16" name="state_A1_ready" descr="state_A1_rea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967" y="3429000"/>
            <a:ext cx="2119209" cy="21031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5577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tx2"/>
                </a:solidFill>
              </a:rPr>
              <a:t>READY  </a:t>
            </a:r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ยังไม่มีทริป</a:t>
            </a:r>
            <a:endParaRPr lang="th-TH" sz="1400" dirty="0"/>
          </a:p>
        </p:txBody>
      </p:sp>
      <p:pic>
        <p:nvPicPr>
          <p:cNvPr id="18" name="state_A2_trip" descr="state_A2_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151" y="3429000"/>
            <a:ext cx="2119209" cy="21031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390824" y="5577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tx2"/>
                </a:solidFill>
              </a:rPr>
              <a:t>TRIP ACTIVE  </a:t>
            </a:r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อุณหภูมิ + MIN/MAX</a:t>
            </a:r>
            <a:endParaRPr lang="th-TH" sz="1400" dirty="0"/>
          </a:p>
        </p:txBody>
      </p:sp>
      <p:pic>
        <p:nvPicPr>
          <p:cNvPr id="20" name="state_A4_alarm" descr="state_A4_ala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335" y="3429000"/>
            <a:ext cx="2119209" cy="21031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33008" y="5577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accent3"/>
                </a:solidFill>
              </a:rPr>
              <a:t>ALARM  </a:t>
            </a:r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ตัวเลขแดง + กรอบแดง</a:t>
            </a:r>
            <a:endParaRPr lang="th-TH" sz="1400" dirty="0"/>
          </a:p>
        </p:txBody>
      </p:sp>
      <p:pic>
        <p:nvPicPr>
          <p:cNvPr id="22" name="state_C1_summary" descr="state_C1_summa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519" y="3429000"/>
            <a:ext cx="2119209" cy="21031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75191" y="5577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b="1" dirty="0">
                <a:solidFill>
                  <a:schemeClr val="tx2"/>
                </a:solidFill>
              </a:rPr>
              <a:t>TRIP SUMMARY  </a:t>
            </a:r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สรุป 5 นาทีหลังจบงาน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· FUNCTION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ข้อมูลไปไหน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59254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pic>
        <p:nvPicPr>
          <p:cNvPr id="5" name="device_front" descr="device_fr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325" y="1828800"/>
            <a:ext cx="1243884" cy="1234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06324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TCOLD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บันทึกทุก 5 นาที</a:t>
            </a:r>
            <a:endParaRPr lang="th-TH" sz="1400" dirty="0"/>
          </a:p>
        </p:txBody>
      </p:sp>
      <p:sp>
        <p:nvSpPr>
          <p:cNvPr id="7" name="Shape 4"/>
          <p:cNvSpPr/>
          <p:nvPr/>
        </p:nvSpPr>
        <p:spPr>
          <a:xfrm>
            <a:off x="2945054" y="2514600"/>
            <a:ext cx="411480" cy="38404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3493694" y="1737360"/>
            <a:ext cx="2259254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9" name="icon wifi"/>
          <p:cNvSpPr/>
          <p:nvPr/>
        </p:nvSpPr>
        <p:spPr>
          <a:xfrm>
            <a:off x="4211841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w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892" y="219273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854" y="306324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Wi-Fi 2.4 GHz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MQTT · ส่งทันทีที่บันทึก</a:t>
            </a:r>
            <a:endParaRPr lang="th-TH" sz="1400" dirty="0"/>
          </a:p>
        </p:txBody>
      </p:sp>
      <p:sp>
        <p:nvSpPr>
          <p:cNvPr id="12" name="Shape 8"/>
          <p:cNvSpPr/>
          <p:nvPr/>
        </p:nvSpPr>
        <p:spPr>
          <a:xfrm>
            <a:off x="5890108" y="2514600"/>
            <a:ext cx="411480" cy="38404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3" name="Shape 9"/>
          <p:cNvSpPr/>
          <p:nvPr/>
        </p:nvSpPr>
        <p:spPr>
          <a:xfrm>
            <a:off x="6438748" y="1737360"/>
            <a:ext cx="2259254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4" name="icon server"/>
          <p:cNvSpPr/>
          <p:nvPr/>
        </p:nvSpPr>
        <p:spPr>
          <a:xfrm>
            <a:off x="7156895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946" y="219273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75908" y="306324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Server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เก็บถาวร ยืนยันกลับ (ACK)</a:t>
            </a:r>
            <a:endParaRPr lang="th-TH" sz="1400" dirty="0"/>
          </a:p>
        </p:txBody>
      </p:sp>
      <p:sp>
        <p:nvSpPr>
          <p:cNvPr id="17" name="Shape 12"/>
          <p:cNvSpPr/>
          <p:nvPr/>
        </p:nvSpPr>
        <p:spPr>
          <a:xfrm>
            <a:off x="8835161" y="2514600"/>
            <a:ext cx="411480" cy="38404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Shape 13"/>
          <p:cNvSpPr/>
          <p:nvPr/>
        </p:nvSpPr>
        <p:spPr>
          <a:xfrm>
            <a:off x="9383801" y="1737360"/>
            <a:ext cx="2259254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9" name="icon device-laptop"/>
          <p:cNvSpPr/>
          <p:nvPr/>
        </p:nvSpPr>
        <p:spPr>
          <a:xfrm>
            <a:off x="10101948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device-lap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000" y="219273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20961" y="3063240"/>
            <a:ext cx="19849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600" b="1" dirty="0">
                <a:solidFill>
                  <a:schemeClr val="tx2"/>
                </a:solidFill>
              </a:rPr>
              <a:t>แอป / รายงาน</a:t>
            </a:r>
            <a:endParaRPr lang="th-TH" sz="1400" dirty="0"/>
          </a:p>
          <a:p>
            <a:pPr algn="ctr" indent="0" marL="0">
              <a:buNone/>
            </a:pPr>
            <a:r>
              <a:rPr lang="th-TH" altLang="en-US" sz="1200" dirty="0">
                <a:solidFill>
                  <a:schemeClr val="accent6"/>
                </a:solidFill>
              </a:rPr>
              <a:t>ดูย้อนหลังทั้งทริป</a:t>
            </a:r>
            <a:endParaRPr lang="th-TH" sz="1400" dirty="0"/>
          </a:p>
        </p:txBody>
      </p:sp>
      <p:sp>
        <p:nvSpPr>
          <p:cNvPr id="22" name="icon database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4" descr="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30682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34440" y="4187952"/>
            <a:ext cx="2829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ไม่มีสัญญาณก็ไม่หาย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เก็บในเครื่องได้ประมาณ 268 วัน แล้วทยอยส่งเมื่อกลับมามี Wi-Fi ลบเฉพาะข้อมูลที่ server ยืนยันแล้ว</a:t>
            </a:r>
            <a:endParaRPr lang="th-TH" sz="1400" dirty="0"/>
          </a:p>
        </p:txBody>
      </p:sp>
      <p:sp>
        <p:nvSpPr>
          <p:cNvPr id="25" name="icon usb"/>
          <p:cNvSpPr/>
          <p:nvPr/>
        </p:nvSpPr>
        <p:spPr>
          <a:xfrm>
            <a:off x="4338218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us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802" y="430682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024018" y="4187952"/>
            <a:ext cx="2829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เสียบคอมพิวเตอร์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เห็นเป็น Flash drive คัดลอกไฟล์ CSV ไปเปิดใน Excel ไม่ต้องลงโปรแกรม</a:t>
            </a:r>
            <a:endParaRPr lang="th-TH" sz="1400" dirty="0"/>
          </a:p>
        </p:txBody>
      </p:sp>
      <p:sp>
        <p:nvSpPr>
          <p:cNvPr id="28" name="icon battery-charging"/>
          <p:cNvSpPr/>
          <p:nvPr/>
        </p:nvSpPr>
        <p:spPr>
          <a:xfrm>
            <a:off x="8127797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6" descr="battery-charg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8381" y="4306824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813597" y="4187952"/>
            <a:ext cx="2829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b="1" dirty="0">
                <a:solidFill>
                  <a:schemeClr val="tx2"/>
                </a:solidFill>
              </a:rPr>
              <a:t>Dock 6 ช่อง</a:t>
            </a:r>
            <a:endParaRPr lang="th-TH" sz="14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ชาร์จพร้อมกัน 6 เครื่องด้วย adapter USB-C PD 45 W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SPECIFICATION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A"/>
                </a:solidFill>
              </a:rPr>
              <a:t>ตัวเลขสำคัญ ขนาด และข้อมูลจำเพาะ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· SPECIFICATION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ตัวเลขสำคัญ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4778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5" name="icon temperature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emper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19394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23160"/>
            <a:ext cx="293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000" b="1" dirty="0">
                <a:solidFill>
                  <a:schemeClr val="tx2"/>
                </a:solidFill>
              </a:rPr>
              <a:t>0.25 °C</a:t>
            </a:r>
            <a:endParaRPr lang="th-TH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ความละเอียดการวัด</a:t>
            </a:r>
            <a:endParaRPr lang="th-TH" sz="1400" dirty="0"/>
          </a:p>
        </p:txBody>
      </p:sp>
      <p:sp>
        <p:nvSpPr>
          <p:cNvPr id="9" name="Shape 6"/>
          <p:cNvSpPr/>
          <p:nvPr/>
        </p:nvSpPr>
        <p:spPr>
          <a:xfrm>
            <a:off x="4353458" y="1508760"/>
            <a:ext cx="3484778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icon clock"/>
          <p:cNvSpPr/>
          <p:nvPr/>
        </p:nvSpPr>
        <p:spPr>
          <a:xfrm>
            <a:off x="4673498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193944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3498" y="2423160"/>
            <a:ext cx="293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000" b="1" dirty="0">
                <a:solidFill>
                  <a:schemeClr val="tx2"/>
                </a:solidFill>
              </a:rPr>
              <a:t>5 นาที</a:t>
            </a:r>
            <a:endParaRPr lang="th-TH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4673498" y="31089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รอบบันทึกอุณหภูมิ (ตั้งได้ 5–60 นาที)</a:t>
            </a:r>
            <a:endParaRPr lang="th-TH" sz="1400" dirty="0"/>
          </a:p>
        </p:txBody>
      </p:sp>
      <p:sp>
        <p:nvSpPr>
          <p:cNvPr id="14" name="Shape 10"/>
          <p:cNvSpPr/>
          <p:nvPr/>
        </p:nvSpPr>
        <p:spPr>
          <a:xfrm>
            <a:off x="8158277" y="1508760"/>
            <a:ext cx="3484778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5" name="icon database"/>
          <p:cNvSpPr/>
          <p:nvPr/>
        </p:nvSpPr>
        <p:spPr>
          <a:xfrm>
            <a:off x="8478317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59" y="193944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78317" y="2423160"/>
            <a:ext cx="293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000" b="1" dirty="0">
                <a:solidFill>
                  <a:schemeClr val="tx2"/>
                </a:solidFill>
              </a:rPr>
              <a:t>~268 วัน</a:t>
            </a:r>
            <a:endParaRPr lang="th-TH" sz="4000" dirty="0"/>
          </a:p>
        </p:txBody>
      </p:sp>
      <p:sp>
        <p:nvSpPr>
          <p:cNvPr id="18" name="Text 13"/>
          <p:cNvSpPr txBox="1"/>
          <p:nvPr/>
        </p:nvSpPr>
        <p:spPr>
          <a:xfrm>
            <a:off x="8478317" y="310896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เก็บข้อมูลในเครื่อง ที่รอบ 5 นาที</a:t>
            </a:r>
            <a:endParaRPr lang="th-TH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84778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20" name="icon battery-3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battery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44083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892040"/>
            <a:ext cx="293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000" b="1" dirty="0">
                <a:solidFill>
                  <a:schemeClr val="tx2"/>
                </a:solidFill>
              </a:rPr>
              <a:t>7 วัน</a:t>
            </a:r>
            <a:endParaRPr lang="th-TH" sz="40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57784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ใช้งานต่อเนื่อง · เป้าหมาย</a:t>
            </a:r>
            <a:endParaRPr lang="th-TH" sz="1400" dirty="0"/>
          </a:p>
        </p:txBody>
      </p:sp>
      <p:sp>
        <p:nvSpPr>
          <p:cNvPr id="24" name="Shape 18"/>
          <p:cNvSpPr/>
          <p:nvPr/>
        </p:nvSpPr>
        <p:spPr>
          <a:xfrm>
            <a:off x="4353458" y="3977640"/>
            <a:ext cx="3484778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25" name="icon device-tablet"/>
          <p:cNvSpPr/>
          <p:nvPr/>
        </p:nvSpPr>
        <p:spPr>
          <a:xfrm>
            <a:off x="4673498" y="4297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device-tab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141" y="440832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73498" y="4892040"/>
            <a:ext cx="293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b="1" dirty="0">
                <a:solidFill>
                  <a:schemeClr val="tx2"/>
                </a:solidFill>
              </a:rPr>
              <a:t>87 × 87 × 12.3</a:t>
            </a:r>
            <a:endParaRPr lang="th-TH" sz="3200" dirty="0"/>
          </a:p>
        </p:txBody>
      </p:sp>
      <p:sp>
        <p:nvSpPr>
          <p:cNvPr id="28" name="Text 21"/>
          <p:cNvSpPr txBox="1"/>
          <p:nvPr/>
        </p:nvSpPr>
        <p:spPr>
          <a:xfrm>
            <a:off x="4673498" y="557784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ขนาดตัวเครื่อง (มม.)</a:t>
            </a:r>
            <a:endParaRPr lang="th-TH" sz="1400" dirty="0"/>
          </a:p>
        </p:txBody>
      </p:sp>
      <p:sp>
        <p:nvSpPr>
          <p:cNvPr id="29" name="Shape 22"/>
          <p:cNvSpPr/>
          <p:nvPr/>
        </p:nvSpPr>
        <p:spPr>
          <a:xfrm>
            <a:off x="8158277" y="3977640"/>
            <a:ext cx="3484778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30" name="icon eye"/>
          <p:cNvSpPr/>
          <p:nvPr/>
        </p:nvSpPr>
        <p:spPr>
          <a:xfrm>
            <a:off x="8478317" y="4297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ey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959" y="440832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78317" y="4892040"/>
            <a:ext cx="293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4000" b="1" dirty="0">
                <a:solidFill>
                  <a:schemeClr val="tx2"/>
                </a:solidFill>
              </a:rPr>
              <a:t>2.13″</a:t>
            </a:r>
            <a:endParaRPr lang="th-TH" sz="4000" dirty="0"/>
          </a:p>
        </p:txBody>
      </p:sp>
      <p:sp>
        <p:nvSpPr>
          <p:cNvPr id="33" name="Text 25"/>
          <p:cNvSpPr txBox="1"/>
          <p:nvPr/>
        </p:nvSpPr>
        <p:spPr>
          <a:xfrm>
            <a:off x="8478317" y="557784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จอ e-Paper 250 × 122 px · 4 สี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· SPECIFICATION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ขนาดตัวเครื่อง</a:t>
            </a:r>
            <a:endParaRPr lang="en-US" sz="3200" dirty="0"/>
          </a:p>
        </p:txBody>
      </p:sp>
      <p:pic>
        <p:nvPicPr>
          <p:cNvPr id="4" name="device_dimensions_light" descr="device_dimensions_l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36" y="1371600"/>
            <a:ext cx="6150769" cy="480060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465015" cy="914400"/>
        </p:xfrm>
        <a:graphic>
          <a:graphicData uri="http://schemas.openxmlformats.org/drawingml/2006/table">
            <a:tbl>
              <a:tblPr/>
              <a:tblGrid>
                <a:gridCol w="1518105"/>
                <a:gridCol w="2946910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ตัวเครื่อง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ขนาด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87 × 87 × 12.3 มม.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จอแสดงผล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e-Paper 2.13″ · 250 × 122 px · 4 สี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ไฟสถานะ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RGB 3 ดวง + ไฟชาร์จด้านข้าง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เสียงเตือน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Buzzer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สวิตช์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เปิด/ปิด ตัดไฟทั้งเครื่อง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พอร์ต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USB-C (ชาร์จ · ไดรฟ์ USB)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ประมวลผล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ESP32-S3 · PSRAM 8 MB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· SPECIFICATION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ข้อมูลจำเพาะ · การวัดและการติดตาม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364328" cy="914400"/>
        </p:xfrm>
        <a:graphic>
          <a:graphicData uri="http://schemas.openxmlformats.org/drawingml/2006/table">
            <a:tbl>
              <a:tblPr/>
              <a:tblGrid>
                <a:gridCol w="1823871"/>
                <a:gridCol w="3540456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การวัดอุณหภูมิ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หัววัด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Thermocouple Type K ปลอกสแตนเลส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ตัวแปลงสัญญาณ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MAX6675 · ความละเอียด 0.25 °C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ช่วงวัด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°C ขึ้นไป · เหมาะกับ 2–8 °C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รอบบันทึก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ทุก 5 นาที (ตั้งได้ 5–60 นาที)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Alarm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นอกช่วงต่อเนื่อง 5 นาที (ตั้งได้)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Alarm หาย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กลับเข้าช่วงลึก 0.5 °C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508760"/>
          <a:ext cx="5364328" cy="914400"/>
        </p:xfrm>
        <a:graphic>
          <a:graphicData uri="http://schemas.openxmlformats.org/drawingml/2006/table">
            <a:tbl>
              <a:tblPr/>
              <a:tblGrid>
                <a:gridCol w="1823871"/>
                <a:gridCol w="3540456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การติดตาม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ตำแหน่ง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GNSS ATGM336H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ฝากล่อง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Reed switch บันทึกการเปิด-ปิด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การขยับ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LIS2DW12 นับการขยับและแรงกระแทก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นาฬิกา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RTC เดินต่อแม้ปิดเครื่อง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i="1" dirty="0">
                <a:solidFill>
                  <a:schemeClr val="accent6"/>
                </a:solidFill>
              </a:rPr>
              <a:t>ความละเอียด 0.25 °C ไม่ใช่ความแม่นยำ ความแม่นยำขึ้นกับผลสอบเทียบ · MAX6675 อ่านค่าติดลบไม่ได้</a:t>
            </a:r>
            <a:endParaRPr lang="th-TH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· SPECIFICATION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ข้อมูลจำเพาะ · การเชื่อมต่อ ข้อมูล และพลังงาน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364328" cy="914400"/>
        </p:xfrm>
        <a:graphic>
          <a:graphicData uri="http://schemas.openxmlformats.org/drawingml/2006/table">
            <a:tbl>
              <a:tblPr/>
              <a:tblGrid>
                <a:gridCol w="1823871"/>
                <a:gridCol w="3540456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การเชื่อมต่อ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Wi-Fi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 GHz · จำได้ 5 เครือข่าย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ส่งข้อมูล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MQTT ทุกครั้งที่บันทึก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Bluetooth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BLE เปิด 60 วินาทีหลังแตะ NFC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NFC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ST25DV04KC · แตะเพื่อเชื่อมต่อ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USB-C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ชาร์จ · ไดรฟ์ USB ส่งออก CSV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508760"/>
          <a:ext cx="5364328" cy="914400"/>
        </p:xfrm>
        <a:graphic>
          <a:graphicData uri="http://schemas.openxmlformats.org/drawingml/2006/table">
            <a:tbl>
              <a:tblPr/>
              <a:tblGrid>
                <a:gridCol w="1823871"/>
                <a:gridCol w="3540456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ข้อมูลและพลังงาน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หน่วยความจำ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Flash 16 MB · ประมาณ 268 วัน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การ์ดเสริม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microSD (optional)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แบตเตอรี่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Li-Po 1500 mAh (เป้าหมาย)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ใช้งานต่อเนื่อง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วัน บันทึกทุก 5 นาที (เป้าหมาย)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การชาร์จ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USB-C PD · Dock ชาร์จ 6 ช่อง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ป้องกันแบต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ต่ำกว่า 5% ปิดเครื่องเอง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i="1" dirty="0">
                <a:solidFill>
                  <a:schemeClr val="accent6"/>
                </a:solidFill>
              </a:rPr>
              <a:t>ค่าที่ระบุ "เป้าหมาย" เป็นค่าออกแบบ ยังไม่ได้วัดจริงบนเครื่องต้นแบบ</a:t>
            </a:r>
            <a:endParaRPr lang="th-TH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58521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THANES · SMART COLD CHAIN</a:t>
            </a:r>
            <a:endParaRPr lang="en-US" sz="1400" dirty="0"/>
          </a:p>
        </p:txBody>
      </p:sp>
      <p:pic>
        <p:nvPicPr>
          <p:cNvPr id="3" name="Image 0" descr="TC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120640" cy="118624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32461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ขอบคุณ</a:t>
            </a:r>
            <a:endParaRPr lang="en-US" sz="3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343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</a:rPr>
              <a:t>Smart Cold Chain · Smart Lab · Smart Pharmacy · Smart AI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29400" y="685800"/>
            <a:ext cx="5029200" cy="5486400"/>
          </a:xfrm>
          <a:prstGeom prst="roundRect">
            <a:avLst>
              <a:gd name="adj" fmla="val 5455"/>
            </a:avLst>
          </a:prstGeom>
          <a:solidFill>
            <a:srgbClr val="F2F8FA"/>
          </a:solidFill>
          <a:ln/>
        </p:spPr>
      </p:sp>
      <p:pic>
        <p:nvPicPr>
          <p:cNvPr id="7" name="device_front" descr="device_fr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51102"/>
            <a:ext cx="4389120" cy="43557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COLD">
  <a:themeElements>
    <a:clrScheme name="TCOLD">
      <a:dk1>
        <a:srgbClr val="14293A"/>
      </a:dk1>
      <a:lt1>
        <a:srgbClr val="FFFFFF"/>
      </a:lt1>
      <a:dk2>
        <a:srgbClr val="0B3550"/>
      </a:dk2>
      <a:lt2>
        <a:srgbClr val="EEF5F7"/>
      </a:lt2>
      <a:accent1>
        <a:srgbClr val="0E8391"/>
      </a:accent1>
      <a:accent2>
        <a:srgbClr val="1AA5B5"/>
      </a:accent2>
      <a:accent3>
        <a:srgbClr val="C63737"/>
      </a:accent3>
      <a:accent4>
        <a:srgbClr val="E0A21A"/>
      </a:accent4>
      <a:accent5>
        <a:srgbClr val="22A9D6"/>
      </a:accent5>
      <a:accent6>
        <a:srgbClr val="5F707C"/>
      </a:accent6>
      <a:hlink>
        <a:srgbClr val="0E8391"/>
      </a:hlink>
      <a:folHlink>
        <a:srgbClr val="12506F"/>
      </a:folHlink>
    </a:clrScheme>
    <a:fontScheme name="TCOLD">
      <a:majorFont>
        <a:latin typeface="Leelawadee UI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THANES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TCOLD — Thanes Cold-chain Online Logging Device</dc:title>
  <dc:subject>PptxGenJS Presentation</dc:subject>
  <dc:creator>PptxGenJS</dc:creator>
  <cp:lastModifiedBy>PptxGenJS</cp:lastModifiedBy>
  <cp:revision>1</cp:revision>
  <dcterms:created xsi:type="dcterms:W3CDTF">2026-10-27T07:00:33Z</dcterms:created>
  <dcterms:modified xsi:type="dcterms:W3CDTF">2026-10-27T07:00:33Z</dcterms:modified>
</cp:coreProperties>
</file>